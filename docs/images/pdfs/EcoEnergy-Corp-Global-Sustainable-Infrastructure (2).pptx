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88" r:id="rId6"/>
    <p:sldId id="303" r:id="rId7"/>
    <p:sldId id="300" r:id="rId8"/>
    <p:sldId id="289" r:id="rId9"/>
    <p:sldId id="301" r:id="rId10"/>
    <p:sldId id="297" r:id="rId11"/>
    <p:sldId id="296" r:id="rId12"/>
    <p:sldId id="258" r:id="rId13"/>
    <p:sldId id="259" r:id="rId14"/>
    <p:sldId id="278" r:id="rId15"/>
    <p:sldId id="279" r:id="rId16"/>
    <p:sldId id="285" r:id="rId17"/>
    <p:sldId id="286" r:id="rId18"/>
    <p:sldId id="298" r:id="rId19"/>
    <p:sldId id="299" r:id="rId20"/>
    <p:sldId id="262" r:id="rId21"/>
    <p:sldId id="264" r:id="rId22"/>
    <p:sldId id="263" r:id="rId23"/>
    <p:sldId id="266" r:id="rId24"/>
    <p:sldId id="273" r:id="rId25"/>
    <p:sldId id="302" r:id="rId26"/>
    <p:sldId id="292" r:id="rId27"/>
    <p:sldId id="271" r:id="rId28"/>
    <p:sldId id="294" r:id="rId29"/>
    <p:sldId id="304" r:id="rId30"/>
  </p:sldIdLst>
  <p:sldSz cx="14630400" cy="8229600"/>
  <p:notesSz cx="8229600" cy="14630400"/>
  <p:embeddedFontLs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Georgia" panose="02040502050405020303" pitchFamily="18" charset="0"/>
      <p:regular r:id="rId36"/>
      <p:bold r:id="rId37"/>
      <p:italic r:id="rId38"/>
      <p:boldItalic r:id="rId39"/>
    </p:embeddedFont>
    <p:embeddedFont>
      <p:font typeface="Inter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BF1"/>
    <a:srgbClr val="0872D6"/>
    <a:srgbClr val="064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ED30D-9402-47AE-A7F0-3BBA07B0ECEB}" v="2" dt="2025-11-11T15:20:28.393"/>
    <p1510:client id="{0CD71476-2D3A-57FA-D74E-CB36956595DE}" v="4" dt="2025-11-10T18:23:05.487"/>
    <p1510:client id="{272AD561-3828-2302-8763-7F683A5A42A1}" v="561" dt="2025-11-11T00:56:44.883"/>
    <p1510:client id="{39803DD9-0D22-4FB2-D671-1D8E1C89B513}" v="736" dt="2025-11-11T00:02:02.756"/>
    <p1510:client id="{4B8DBF48-30B0-47EF-9B69-D72E773CB757}" v="106" dt="2025-11-11T10:50:30.910"/>
    <p1510:client id="{56FFB522-7F2C-4F06-B1A4-C80BCF2E19FD}" v="19" dt="2025-11-11T10:32:15.323"/>
    <p1510:client id="{61C684AD-1C42-B9B7-E06D-EA32AB348068}" v="274" dt="2025-11-11T15:46:34.573"/>
    <p1510:client id="{64F7B39E-DFF5-C703-72F9-E42FA6FCE555}" v="8" dt="2025-11-10T21:53:21.081"/>
    <p1510:client id="{7215BC4B-3F8B-3234-1135-79547CB2C59C}" v="37" dt="2025-11-11T00:08:46.064"/>
    <p1510:client id="{7BCA0CA1-56FE-2042-958C-E96598752AA0}" v="263" dt="2025-11-11T15:18:52.073"/>
    <p1510:client id="{7CF96654-215D-8A16-8CB3-05E1D93B08C7}" v="108" dt="2025-11-10T21:12:27.463"/>
    <p1510:client id="{853CE25B-542B-2BF1-F9F1-03D3641FC62B}" v="2" dt="2025-11-11T14:55:33.374"/>
    <p1510:client id="{9EE1E88E-1F6F-5E59-ADD4-FFD1AD27F5F2}" v="747" dt="2025-11-10T19:15:48.857"/>
    <p1510:client id="{BFE84163-E209-599E-C951-63C88899E037}" v="1" dt="2025-11-11T01:01:13.963"/>
    <p1510:client id="{CF034659-4A1A-4D4E-967F-449BD8BFBB59}" v="3272" dt="2025-11-11T17:01:32.040"/>
    <p1510:client id="{D019CF8F-E373-36AB-7EC8-931489640973}" v="10" dt="2025-11-11T01:03:24.388"/>
    <p1510:client id="{DAC688A6-AB7C-4575-3995-633884FEFBBE}" v="712" dt="2025-11-11T10:28:01.557"/>
    <p1510:client id="{E2995C13-4CFB-BFC1-EE2D-4E92E29A503B}" v="48" dt="2025-11-11T16:28:35.443"/>
    <p1510:client id="{E67FE8A2-35FF-7503-DCA4-3BA0436F7DD9}" v="26" dt="2025-11-10T22:46:54.724"/>
    <p1510:client id="{EA88DFD7-36C9-4EA1-8F9D-E255F91130F9}" v="741" dt="2025-11-11T10:59:07.968"/>
    <p1510:client id="{F7B23D0F-153C-8747-B85F-11EC2162CC3F}" v="216" dt="2025-11-11T10:50:28.544"/>
    <p1510:client id="{F7B5A2EF-EDE3-2889-3B80-D4CDEE1627E2}" v="242" dt="2025-11-10T19:44:05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94" autoAdjust="0"/>
    <p:restoredTop sz="94660"/>
  </p:normalViewPr>
  <p:slideViewPr>
    <p:cSldViewPr snapToGrid="0">
      <p:cViewPr>
        <p:scale>
          <a:sx n="50" d="100"/>
          <a:sy n="50" d="100"/>
        </p:scale>
        <p:origin x="6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89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37597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248C-6923-A037-CF71-B372F586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5B288-E583-F0D8-B988-12DC3691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073CF-5B4F-494E-EE1D-7C219875A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CBE33-7425-BB4D-D5C9-AA6F96A0D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logo with a leaf and lightning bolt&#10;&#10;AI-generated content may be incorrect.">
            <a:extLst>
              <a:ext uri="{FF2B5EF4-FFF2-40B4-BE49-F238E27FC236}">
                <a16:creationId xmlns:a16="http://schemas.microsoft.com/office/drawing/2014/main" id="{6BDC7213-1189-F411-1090-CCCCC72D12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2609" t="3358" r="290" b="373"/>
          <a:stretch>
            <a:fillRect/>
          </a:stretch>
        </p:blipFill>
        <p:spPr>
          <a:xfrm>
            <a:off x="12046514" y="6390097"/>
            <a:ext cx="2582010" cy="1843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B4B7-C4F1-04E7-26D9-9469CD61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6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9709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568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6278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  <p:sldLayoutId id="2147483652" r:id="rId5"/>
    <p:sldLayoutId id="2147483653" r:id="rId6"/>
    <p:sldLayoutId id="2147483654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8590" y="1181528"/>
            <a:ext cx="8277474" cy="2136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 err="1">
                <a:latin typeface="Georgia"/>
                <a:ea typeface="Inter Bold"/>
                <a:cs typeface="Inter Bold" pitchFamily="34" charset="-120"/>
              </a:rPr>
              <a:t>EcoEnergy</a:t>
            </a:r>
            <a:r>
              <a:rPr lang="en-US" sz="5400" dirty="0">
                <a:latin typeface="Georgia"/>
                <a:ea typeface="Inter Bold"/>
                <a:cs typeface="Inter Bold" pitchFamily="34" charset="-120"/>
              </a:rPr>
              <a:t> Corp: Global Sustainable Infrastructure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Georgia"/>
                <a:ea typeface="Inter Bold"/>
                <a:cs typeface="Inter Bold" pitchFamily="34" charset="-120"/>
              </a:rPr>
              <a:t>&amp; Technology</a:t>
            </a:r>
            <a:endParaRPr lang="en-US" sz="5400" dirty="0">
              <a:latin typeface="Georgia"/>
              <a:ea typeface="Inter Bold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65890" y="3610570"/>
            <a:ext cx="7556421" cy="1689616"/>
          </a:xfrm>
          <a:prstGeom prst="roundRect">
            <a:avLst>
              <a:gd name="adj" fmla="val 5638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3954661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3894058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reviews our performance, focusing on key regional challenges and strategic opportunities for margin improvement.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2D93CF-F63D-6CB7-451E-6DA2C6BA03E2}"/>
              </a:ext>
            </a:extLst>
          </p:cNvPr>
          <p:cNvSpPr/>
          <p:nvPr/>
        </p:nvSpPr>
        <p:spPr>
          <a:xfrm>
            <a:off x="12687300" y="7720445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434F86-4F30-78E2-2932-4FD6E2CC7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3975" y="6869682"/>
            <a:ext cx="2478118" cy="1684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08042-E740-C2DF-B19E-EC1BAF6D43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5137"/>
            <a:ext cx="14630400" cy="821932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016290" y="516135"/>
            <a:ext cx="104991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dirty="0">
                <a:latin typeface="Georgia"/>
                <a:ea typeface="Inter Bold"/>
                <a:cs typeface="Inter Bold" pitchFamily="34" charset="-120"/>
              </a:rPr>
              <a:t>Meet The Global Leadership Team</a:t>
            </a:r>
            <a:endParaRPr lang="en-US" sz="4400" dirty="0">
              <a:latin typeface="Georgia"/>
              <a:ea typeface="Inter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655" y="2064210"/>
            <a:ext cx="2472333" cy="15279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71655" y="377359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Niall Grainger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2771656" y="4165901"/>
            <a:ext cx="25695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Analyst, North America</a:t>
            </a:r>
            <a:endParaRPr lang="en-US" sz="1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590" y="5153502"/>
            <a:ext cx="2472452" cy="1528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8590" y="686300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Aleksander Lupa</a:t>
            </a:r>
            <a:endParaRPr lang="en-US" sz="1750"/>
          </a:p>
        </p:txBody>
      </p:sp>
      <p:sp>
        <p:nvSpPr>
          <p:cNvPr id="9" name="Text 5"/>
          <p:cNvSpPr/>
          <p:nvPr/>
        </p:nvSpPr>
        <p:spPr>
          <a:xfrm>
            <a:off x="7688590" y="7255312"/>
            <a:ext cx="30906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Analyst, Asia</a:t>
            </a:r>
            <a:endParaRPr lang="en-US" sz="14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974" y="2064091"/>
            <a:ext cx="2472452" cy="1528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8974" y="3773590"/>
            <a:ext cx="246233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Martinas Jucys-Brady</a:t>
            </a:r>
            <a:endParaRPr lang="en-US" sz="1750"/>
          </a:p>
        </p:txBody>
      </p:sp>
      <p:sp>
        <p:nvSpPr>
          <p:cNvPr id="12" name="Text 7"/>
          <p:cNvSpPr/>
          <p:nvPr/>
        </p:nvSpPr>
        <p:spPr>
          <a:xfrm>
            <a:off x="6078974" y="4165901"/>
            <a:ext cx="26835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Analyst, South America</a:t>
            </a:r>
            <a:endParaRPr lang="en-US" sz="14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6412" y="2064091"/>
            <a:ext cx="2472452" cy="1528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96412" y="377359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Daniel Vala</a:t>
            </a:r>
            <a:endParaRPr lang="en-US" sz="1750"/>
          </a:p>
        </p:txBody>
      </p:sp>
      <p:sp>
        <p:nvSpPr>
          <p:cNvPr id="15" name="Text 9"/>
          <p:cNvSpPr/>
          <p:nvPr/>
        </p:nvSpPr>
        <p:spPr>
          <a:xfrm>
            <a:off x="9396412" y="4165901"/>
            <a:ext cx="209906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Analyst, Africa</a:t>
            </a:r>
            <a:endParaRPr lang="en-US" sz="1400"/>
          </a:p>
        </p:txBody>
      </p:sp>
      <p:pic>
        <p:nvPicPr>
          <p:cNvPr id="16" name="Image 4" descr="A person smiling at camera&#10;&#10;AI-generated content may be incorrect."/>
          <p:cNvPicPr>
            <a:picLocks noChangeAspect="1"/>
          </p:cNvPicPr>
          <p:nvPr/>
        </p:nvPicPr>
        <p:blipFill>
          <a:blip r:embed="rId8"/>
          <a:srcRect t="13314" r="617" b="26923"/>
          <a:stretch>
            <a:fillRect/>
          </a:stretch>
        </p:blipFill>
        <p:spPr>
          <a:xfrm>
            <a:off x="4282212" y="5153502"/>
            <a:ext cx="2449526" cy="15405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1272" y="686288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Roisin Murphy</a:t>
            </a:r>
            <a:endParaRPr lang="en-US" sz="1750"/>
          </a:p>
        </p:txBody>
      </p:sp>
      <p:sp>
        <p:nvSpPr>
          <p:cNvPr id="18" name="Text 11"/>
          <p:cNvSpPr/>
          <p:nvPr/>
        </p:nvSpPr>
        <p:spPr>
          <a:xfrm>
            <a:off x="4381273" y="7255194"/>
            <a:ext cx="226826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Analyst, Europe</a:t>
            </a:r>
            <a:endParaRPr lang="en-US" sz="140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E97D8-DEB0-96AE-3B25-7ED63E5B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885DB1F-1C36-2F20-8397-3A21179279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8473" y="0"/>
            <a:ext cx="14648872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7D0CDA-7BFB-F8A0-6267-C4D70A9CD0EE}"/>
              </a:ext>
            </a:extLst>
          </p:cNvPr>
          <p:cNvSpPr txBox="1"/>
          <p:nvPr/>
        </p:nvSpPr>
        <p:spPr>
          <a:xfrm>
            <a:off x="1346199" y="701067"/>
            <a:ext cx="803293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000" dirty="0">
                <a:latin typeface="Georgia" panose="02040502050405020303" pitchFamily="18" charset="0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7F3D02-E6D2-574D-C3A0-7BD371B6D823}"/>
              </a:ext>
            </a:extLst>
          </p:cNvPr>
          <p:cNvSpPr txBox="1"/>
          <p:nvPr/>
        </p:nvSpPr>
        <p:spPr>
          <a:xfrm>
            <a:off x="1346198" y="2321545"/>
            <a:ext cx="1160780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143000" indent="-1143000">
              <a:buFont typeface="+mj-lt"/>
              <a:buAutoNum type="arabicPeriod"/>
            </a:pPr>
            <a:r>
              <a:rPr lang="en-GB" sz="4800">
                <a:latin typeface="Georgia"/>
                <a:ea typeface="Inter Bold"/>
              </a:rPr>
              <a:t>Profitability</a:t>
            </a:r>
          </a:p>
          <a:p>
            <a:pPr marL="1143000" indent="-1143000">
              <a:buFont typeface="+mj-lt"/>
              <a:buAutoNum type="arabicPeriod"/>
            </a:pPr>
            <a:r>
              <a:rPr lang="en-GB" sz="4800">
                <a:latin typeface="Georgia"/>
                <a:ea typeface="Inter Bold"/>
              </a:rPr>
              <a:t>Regional Analysis</a:t>
            </a:r>
          </a:p>
          <a:p>
            <a:pPr marL="1143000" indent="-1143000">
              <a:buFont typeface="+mj-lt"/>
              <a:buAutoNum type="arabicPeriod"/>
            </a:pPr>
            <a:r>
              <a:rPr lang="en-GB" sz="4800">
                <a:latin typeface="Georgia"/>
                <a:ea typeface="Inter Bold"/>
              </a:rPr>
              <a:t>Our Solution</a:t>
            </a:r>
            <a:endParaRPr lang="en-GB" sz="3200">
              <a:latin typeface="Georgia"/>
              <a:ea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367244069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3D778E-2DD5-E453-3C5E-0BD574DB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11DC755-2D0D-5128-8D19-91B14C8401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8473" y="0"/>
            <a:ext cx="14648872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B7E08A-A363-0BB3-A87F-0C6C7D1B202C}"/>
              </a:ext>
            </a:extLst>
          </p:cNvPr>
          <p:cNvSpPr txBox="1"/>
          <p:nvPr/>
        </p:nvSpPr>
        <p:spPr>
          <a:xfrm>
            <a:off x="1346199" y="1691667"/>
            <a:ext cx="1182370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600" dirty="0">
                <a:latin typeface="Georgia" panose="02040502050405020303" pitchFamily="18" charset="0"/>
              </a:rPr>
              <a:t>Profitability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303A17-7AD3-64C0-3D31-7372D8F2D1D5}"/>
              </a:ext>
            </a:extLst>
          </p:cNvPr>
          <p:cNvSpPr txBox="1"/>
          <p:nvPr/>
        </p:nvSpPr>
        <p:spPr>
          <a:xfrm>
            <a:off x="1346200" y="2537445"/>
            <a:ext cx="2768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600" dirty="0">
                <a:latin typeface="Georgia" panose="02040502050405020303" pitchFamily="18" charset="0"/>
                <a:ea typeface="Inter Bold"/>
              </a:rPr>
              <a:t>1</a:t>
            </a:r>
            <a:r>
              <a:rPr lang="en-GB" sz="8800" dirty="0">
                <a:latin typeface="Georgia" panose="02040502050405020303" pitchFamily="18" charset="0"/>
                <a:ea typeface="Inter Bold"/>
              </a:rPr>
              <a:t>.</a:t>
            </a:r>
            <a:endParaRPr lang="en-IE" sz="16600" dirty="0">
              <a:latin typeface="Georgia" panose="02040502050405020303" pitchFamily="18" charset="0"/>
              <a:ea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157468875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121" y="422989"/>
            <a:ext cx="13710120" cy="146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Georgia" panose="02040502050405020303" pitchFamily="18" charset="0"/>
              </a:rPr>
              <a:t>Profit Crisis</a:t>
            </a:r>
          </a:p>
        </p:txBody>
      </p:sp>
      <p:sp>
        <p:nvSpPr>
          <p:cNvPr id="4" name="Shape 1"/>
          <p:cNvSpPr/>
          <p:nvPr/>
        </p:nvSpPr>
        <p:spPr>
          <a:xfrm>
            <a:off x="779722" y="1542824"/>
            <a:ext cx="4097884" cy="1488812"/>
          </a:xfrm>
          <a:prstGeom prst="roundRect">
            <a:avLst>
              <a:gd name="adj" fmla="val 3740"/>
            </a:avLst>
          </a:prstGeom>
          <a:solidFill>
            <a:srgbClr val="DADBF1"/>
          </a:solidFill>
          <a:ln w="762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10639" y="1542824"/>
            <a:ext cx="2764896" cy="34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vs. Costs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14156" y="1863111"/>
            <a:ext cx="3636050" cy="348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€130.7M</a:t>
            </a: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 revenue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0639" y="2259530"/>
            <a:ext cx="3636050" cy="348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€139.1M</a:t>
            </a: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 costs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0639" y="2655949"/>
            <a:ext cx="3636050" cy="348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€8.46M</a:t>
            </a: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 net loss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99377" y="1537988"/>
            <a:ext cx="4097884" cy="1466795"/>
          </a:xfrm>
          <a:prstGeom prst="roundRect">
            <a:avLst>
              <a:gd name="adj" fmla="val 3740"/>
            </a:avLst>
          </a:prstGeom>
          <a:solidFill>
            <a:srgbClr val="DADBF1"/>
          </a:solidFill>
          <a:ln w="7620">
            <a:solidFill>
              <a:srgbClr val="6269D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437328" y="1568224"/>
            <a:ext cx="2764896" cy="34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Portfolio Risk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37328" y="1888511"/>
            <a:ext cx="3636050" cy="348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39%</a:t>
            </a: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 of products sold at a loss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26066" y="1537818"/>
            <a:ext cx="4097884" cy="1488812"/>
          </a:xfrm>
          <a:prstGeom prst="roundRect">
            <a:avLst>
              <a:gd name="adj" fmla="val 3740"/>
            </a:avLst>
          </a:prstGeom>
          <a:solidFill>
            <a:srgbClr val="DADBF1"/>
          </a:solidFill>
          <a:ln w="7620">
            <a:solidFill>
              <a:srgbClr val="6269D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9860500" y="1563217"/>
            <a:ext cx="2764896" cy="34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Bright Spots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860500" y="1913911"/>
            <a:ext cx="3636050" cy="39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Insurance plans and solar panels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60500" y="2259530"/>
            <a:ext cx="3636050" cy="348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Foundation exists for turnaround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F388DB-35E5-5541-125E-05B052CD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22" y="3541934"/>
            <a:ext cx="7812050" cy="43857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37B9BE-770C-6E7F-C358-3064F6F13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772" y="3536879"/>
            <a:ext cx="5960998" cy="4428412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9F56B137-5924-9F01-5725-AAA7328FFC3D}"/>
              </a:ext>
            </a:extLst>
          </p:cNvPr>
          <p:cNvSpPr/>
          <p:nvPr/>
        </p:nvSpPr>
        <p:spPr>
          <a:xfrm>
            <a:off x="5437328" y="2202230"/>
            <a:ext cx="3636050" cy="348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latin typeface="Inter" pitchFamily="34" charset="0"/>
                <a:ea typeface="Inter" pitchFamily="34" charset="-122"/>
              </a:rPr>
              <a:t>8 of 10 </a:t>
            </a:r>
            <a:r>
              <a:rPr lang="en-US" sz="1600" dirty="0">
                <a:latin typeface="Inter" pitchFamily="34" charset="0"/>
                <a:ea typeface="Inter" pitchFamily="34" charset="-122"/>
              </a:rPr>
              <a:t>products were unprofitable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5234-AB18-BDB0-7E0C-6CEF2413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274C9DD-A737-B384-B04E-E3A9FF3F21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8473" y="0"/>
            <a:ext cx="14648872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FB4B47-BC80-469C-833B-49671BB82072}"/>
              </a:ext>
            </a:extLst>
          </p:cNvPr>
          <p:cNvSpPr txBox="1"/>
          <p:nvPr/>
        </p:nvSpPr>
        <p:spPr>
          <a:xfrm>
            <a:off x="1346200" y="1691667"/>
            <a:ext cx="919552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000" dirty="0">
                <a:latin typeface="Georgia" panose="02040502050405020303" pitchFamily="18" charset="0"/>
              </a:rPr>
              <a:t>Regional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3D2826-673D-5DEB-47EF-D690EEDB8A8C}"/>
              </a:ext>
            </a:extLst>
          </p:cNvPr>
          <p:cNvSpPr txBox="1"/>
          <p:nvPr/>
        </p:nvSpPr>
        <p:spPr>
          <a:xfrm>
            <a:off x="1346200" y="2537445"/>
            <a:ext cx="258572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600" dirty="0">
                <a:latin typeface="Georgia" panose="02040502050405020303" pitchFamily="18" charset="0"/>
                <a:ea typeface="Inter Bold"/>
              </a:rPr>
              <a:t>2</a:t>
            </a:r>
            <a:r>
              <a:rPr lang="en-GB" sz="8800" dirty="0">
                <a:latin typeface="Georgia" panose="02040502050405020303" pitchFamily="18" charset="0"/>
                <a:ea typeface="Inter Bold"/>
              </a:rPr>
              <a:t>.</a:t>
            </a:r>
            <a:endParaRPr lang="en-IE" sz="16600" dirty="0">
              <a:latin typeface="Georgia" panose="02040502050405020303" pitchFamily="18" charset="0"/>
              <a:ea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200141454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9723C5-21A3-C22E-5D99-B542E21C8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788"/>
            <a:ext cx="14630400" cy="687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2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07D50C-589B-F0B3-08D8-7C5A3A28B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09"/>
            <a:ext cx="14630400" cy="788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43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9615" y="620928"/>
            <a:ext cx="1077591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latin typeface="Georgia" panose="02040502050405020303" pitchFamily="18" charset="0"/>
                <a:ea typeface="Inter Bold"/>
              </a:rPr>
              <a:t>Asia Financial Overview: Revenue vs Profit Gap</a:t>
            </a:r>
          </a:p>
        </p:txBody>
      </p:sp>
      <p:sp>
        <p:nvSpPr>
          <p:cNvPr id="4" name="Text 2"/>
          <p:cNvSpPr/>
          <p:nvPr/>
        </p:nvSpPr>
        <p:spPr>
          <a:xfrm>
            <a:off x="407963" y="1770995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>
                <a:solidFill>
                  <a:srgbClr val="272525"/>
                </a:solidFill>
                <a:latin typeface="Calibri"/>
                <a:ea typeface="Inter Bold" pitchFamily="34" charset="-122"/>
                <a:cs typeface="Inter Bold" pitchFamily="34" charset="-120"/>
              </a:rPr>
              <a:t>€24.05M</a:t>
            </a:r>
            <a:endParaRPr lang="en-US" sz="4800"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01425" y="2803423"/>
            <a:ext cx="3392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 (10 years)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7963" y="3264317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4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revenue generation across the Asian market, reflecting strong market presence and sales volume.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07963" y="4360803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>
                <a:solidFill>
                  <a:srgbClr val="272525"/>
                </a:solidFill>
                <a:latin typeface="Calibri"/>
                <a:ea typeface="Inter Bold" pitchFamily="34" charset="-122"/>
                <a:cs typeface="Inter Bold" pitchFamily="34" charset="-120"/>
              </a:rPr>
              <a:t>€0.14M</a:t>
            </a:r>
            <a:endParaRPr lang="en-US" sz="4800"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22646" y="5243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 Profit (10 years)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7963" y="5710179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4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net profit indicates severe margin erosion despite significant revenue figures.</a:t>
            </a:r>
            <a:endParaRPr lang="en-US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903025-5077-AFC2-6254-50B07DD0CBCD}"/>
              </a:ext>
            </a:extLst>
          </p:cNvPr>
          <p:cNvSpPr/>
          <p:nvPr/>
        </p:nvSpPr>
        <p:spPr>
          <a:xfrm>
            <a:off x="12687300" y="7720445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bar graph&#10;&#10;AI-generated content may be incorrect.">
            <a:extLst>
              <a:ext uri="{FF2B5EF4-FFF2-40B4-BE49-F238E27FC236}">
                <a16:creationId xmlns:a16="http://schemas.microsoft.com/office/drawing/2014/main" id="{2A6C94C0-E97D-FB85-E900-6A74A593B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397" y="1957366"/>
            <a:ext cx="6918750" cy="43148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537"/>
            <a:ext cx="114033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>
                <a:latin typeface="Inter Bold"/>
              </a:rPr>
              <a:t>Asia: Profitable vs Loss-Making Periods</a:t>
            </a:r>
          </a:p>
        </p:txBody>
      </p:sp>
      <p:sp>
        <p:nvSpPr>
          <p:cNvPr id="3" name="Shape 1"/>
          <p:cNvSpPr/>
          <p:nvPr/>
        </p:nvSpPr>
        <p:spPr>
          <a:xfrm>
            <a:off x="7299960" y="2482810"/>
            <a:ext cx="30480" cy="4426268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10087" y="272272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60049" y="248281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29879" y="260932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/>
          </a:p>
        </p:txBody>
      </p:sp>
      <p:sp>
        <p:nvSpPr>
          <p:cNvPr id="7" name="Text 5"/>
          <p:cNvSpPr/>
          <p:nvPr/>
        </p:nvSpPr>
        <p:spPr>
          <a:xfrm>
            <a:off x="3345894" y="25606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2015-2017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793790" y="3051096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Profitable years driven by cars, solar panels</a:t>
            </a:r>
          </a:p>
          <a:p>
            <a:pPr marL="0" indent="0" algn="r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early technology products, with relatively disciplined portfolio and channel management.</a:t>
            </a:r>
            <a:endParaRPr lang="en-US" sz="1750"/>
          </a:p>
        </p:txBody>
      </p:sp>
      <p:sp>
        <p:nvSpPr>
          <p:cNvPr id="9" name="Shape 7"/>
          <p:cNvSpPr/>
          <p:nvPr/>
        </p:nvSpPr>
        <p:spPr>
          <a:xfrm>
            <a:off x="7539871" y="4083606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60049" y="384369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60359" y="396733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/>
          </a:p>
        </p:txBody>
      </p:sp>
      <p:sp>
        <p:nvSpPr>
          <p:cNvPr id="12" name="Text 10"/>
          <p:cNvSpPr/>
          <p:nvPr/>
        </p:nvSpPr>
        <p:spPr>
          <a:xfrm>
            <a:off x="8449270" y="3921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2018-2023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8449270" y="4411980"/>
            <a:ext cx="5387340" cy="158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Sustained loss-making period caused by aggressive discounting and the persistence of loss-making products (flight tickets, insurance, printers, some tech devices).</a:t>
            </a:r>
            <a:endParaRPr lang="en-US" sz="1750"/>
          </a:p>
        </p:txBody>
      </p:sp>
      <p:sp>
        <p:nvSpPr>
          <p:cNvPr id="14" name="Shape 12"/>
          <p:cNvSpPr/>
          <p:nvPr/>
        </p:nvSpPr>
        <p:spPr>
          <a:xfrm>
            <a:off x="6410087" y="525660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60049" y="50166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29878" y="515969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/>
          </a:p>
        </p:txBody>
      </p:sp>
      <p:sp>
        <p:nvSpPr>
          <p:cNvPr id="17" name="Text 15"/>
          <p:cNvSpPr/>
          <p:nvPr/>
        </p:nvSpPr>
        <p:spPr>
          <a:xfrm>
            <a:off x="3345894" y="50945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793790" y="5584984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to profit, reflecting a tighter technology-focused portfolio, better margin control and a more balanced online/offline mix.</a:t>
            </a:r>
            <a:endParaRPr lang="en-US" sz="17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14AF0C-064C-055C-0403-E16861BA7B7A}"/>
              </a:ext>
            </a:extLst>
          </p:cNvPr>
          <p:cNvSpPr/>
          <p:nvPr/>
        </p:nvSpPr>
        <p:spPr>
          <a:xfrm>
            <a:off x="12687300" y="7720445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0782F4-EA8A-F68A-2DF7-DFF7160D0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93" y="2548574"/>
            <a:ext cx="10579413" cy="3132452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46047B4-1935-BD2B-1242-EFC522A440E7}"/>
              </a:ext>
            </a:extLst>
          </p:cNvPr>
          <p:cNvSpPr/>
          <p:nvPr/>
        </p:nvSpPr>
        <p:spPr>
          <a:xfrm>
            <a:off x="2979139" y="616047"/>
            <a:ext cx="8672120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000" b="1">
                <a:latin typeface="Inter Bold"/>
              </a:rPr>
              <a:t>Asia’s Total Profit by Sales Channel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DA396-F014-EDBA-05BC-85E87C29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DA250C-8269-FCE6-04B0-79CE136A6242}"/>
              </a:ext>
            </a:extLst>
          </p:cNvPr>
          <p:cNvSpPr txBox="1"/>
          <p:nvPr/>
        </p:nvSpPr>
        <p:spPr>
          <a:xfrm>
            <a:off x="644236" y="2161308"/>
            <a:ext cx="13549745" cy="579812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9" name="Picture 8" descr="A diagram of cost efficiency and pricing pressure&#10;&#10;AI-generated content may be incorrect.">
            <a:extLst>
              <a:ext uri="{FF2B5EF4-FFF2-40B4-BE49-F238E27FC236}">
                <a16:creationId xmlns:a16="http://schemas.microsoft.com/office/drawing/2014/main" id="{C613E2CA-7302-10AF-2DD0-3AB27AB34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91" y="1565236"/>
            <a:ext cx="14630400" cy="6403974"/>
          </a:xfrm>
          <a:prstGeom prst="rect">
            <a:avLst/>
          </a:prstGeom>
        </p:spPr>
      </p:pic>
      <p:pic>
        <p:nvPicPr>
          <p:cNvPr id="7" name="Picture 6" descr="A blue pie chart with text&#10;&#10;AI-generated content may be incorrect.">
            <a:extLst>
              <a:ext uri="{FF2B5EF4-FFF2-40B4-BE49-F238E27FC236}">
                <a16:creationId xmlns:a16="http://schemas.microsoft.com/office/drawing/2014/main" id="{8E3074FE-7AE7-6314-5423-CD5F31964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772" y="3585979"/>
            <a:ext cx="9415732" cy="27662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62E942-EE42-598D-6E56-768D12855BC4}"/>
              </a:ext>
            </a:extLst>
          </p:cNvPr>
          <p:cNvSpPr txBox="1"/>
          <p:nvPr/>
        </p:nvSpPr>
        <p:spPr>
          <a:xfrm>
            <a:off x="7035" y="457200"/>
            <a:ext cx="14630397" cy="70788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>
                <a:latin typeface="Georgia"/>
                <a:ea typeface="Calibri"/>
                <a:cs typeface="Calibri"/>
              </a:rPr>
              <a:t>Online Channel Challenge: High Volume, Low Margin</a:t>
            </a:r>
            <a:endParaRPr lang="en-US" sz="4000" err="1">
              <a:latin typeface="Georgi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443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32565" y="598289"/>
            <a:ext cx="7651671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b="1">
                <a:latin typeface="Inter Bold"/>
              </a:rPr>
              <a:t>North America: Significant Profitability Erosion</a:t>
            </a:r>
          </a:p>
        </p:txBody>
      </p:sp>
      <p:sp>
        <p:nvSpPr>
          <p:cNvPr id="5" name="Shape 2"/>
          <p:cNvSpPr/>
          <p:nvPr/>
        </p:nvSpPr>
        <p:spPr>
          <a:xfrm>
            <a:off x="6204430" y="2216055"/>
            <a:ext cx="3719274" cy="2630329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40412" y="2452037"/>
            <a:ext cx="3247311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Widespread Unprofitability</a:t>
            </a:r>
            <a:endParaRPr lang="en-US" sz="2050"/>
          </a:p>
        </p:txBody>
      </p:sp>
      <p:sp>
        <p:nvSpPr>
          <p:cNvPr id="7" name="Text 4"/>
          <p:cNvSpPr/>
          <p:nvPr/>
        </p:nvSpPr>
        <p:spPr>
          <a:xfrm>
            <a:off x="6440412" y="3245946"/>
            <a:ext cx="3247311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out of 10 products</a:t>
            </a:r>
            <a:r>
              <a:rPr lang="en-US" sz="16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currently posting negative net profits, indicating a systemic issue.</a:t>
            </a:r>
            <a:endParaRPr lang="en-US" sz="1650"/>
          </a:p>
        </p:txBody>
      </p:sp>
      <p:sp>
        <p:nvSpPr>
          <p:cNvPr id="8" name="Shape 5"/>
          <p:cNvSpPr/>
          <p:nvPr/>
        </p:nvSpPr>
        <p:spPr>
          <a:xfrm>
            <a:off x="10136826" y="2216055"/>
            <a:ext cx="3719274" cy="2630329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372808" y="2452037"/>
            <a:ext cx="3247311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Substantial Financial Losses</a:t>
            </a:r>
            <a:endParaRPr lang="en-US" sz="2050"/>
          </a:p>
        </p:txBody>
      </p:sp>
      <p:sp>
        <p:nvSpPr>
          <p:cNvPr id="10" name="Text 7"/>
          <p:cNvSpPr/>
          <p:nvPr/>
        </p:nvSpPr>
        <p:spPr>
          <a:xfrm>
            <a:off x="10372808" y="3245946"/>
            <a:ext cx="3247311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losses for the region amount to </a:t>
            </a:r>
            <a:r>
              <a:rPr lang="en-US" sz="1650" b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€4.15 million</a:t>
            </a:r>
            <a:r>
              <a:rPr lang="en-US" sz="16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driven by underperforming product lines.</a:t>
            </a:r>
            <a:endParaRPr lang="en-US" sz="1650"/>
          </a:p>
        </p:txBody>
      </p:sp>
      <p:sp>
        <p:nvSpPr>
          <p:cNvPr id="11" name="Shape 8"/>
          <p:cNvSpPr/>
          <p:nvPr/>
        </p:nvSpPr>
        <p:spPr>
          <a:xfrm>
            <a:off x="6204430" y="5059506"/>
            <a:ext cx="7651671" cy="1615083"/>
          </a:xfrm>
          <a:prstGeom prst="roundRect">
            <a:avLst>
              <a:gd name="adj" fmla="val 554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40412" y="5295488"/>
            <a:ext cx="3970615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Sector Underperformance</a:t>
            </a:r>
            <a:endParaRPr lang="en-US" sz="2050"/>
          </a:p>
        </p:txBody>
      </p:sp>
      <p:sp>
        <p:nvSpPr>
          <p:cNvPr id="13" name="Text 10"/>
          <p:cNvSpPr/>
          <p:nvPr/>
        </p:nvSpPr>
        <p:spPr>
          <a:xfrm>
            <a:off x="6440412" y="5756379"/>
            <a:ext cx="7179707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Technology, Transport, and Insurance sectors show significant negative margins, impacting overall regional profitability.</a:t>
            </a:r>
            <a:endParaRPr lang="en-US" sz="16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7C92E8-2FFF-ACD0-F70F-08FD45A1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74" y="-1628"/>
            <a:ext cx="5275539" cy="31659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89D833-D941-36FE-255D-6E22A573E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48" y="3164004"/>
            <a:ext cx="5215597" cy="48023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9107" y="308797"/>
            <a:ext cx="12992184" cy="76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800" dirty="0">
                <a:latin typeface="Georgia" panose="02040502050405020303" pitchFamily="18" charset="0"/>
              </a:rPr>
              <a:t>Pricing Problems </a:t>
            </a:r>
          </a:p>
          <a:p>
            <a:pPr marL="0" indent="0" algn="ctr">
              <a:lnSpc>
                <a:spcPts val="4900"/>
              </a:lnSpc>
              <a:buNone/>
            </a:pPr>
            <a:r>
              <a:rPr lang="en-US" sz="4800" dirty="0">
                <a:latin typeface="Georgia" panose="02040502050405020303" pitchFamily="18" charset="0"/>
              </a:rPr>
              <a:t>Below-Cost Sales &amp; Heavy Discounting</a:t>
            </a:r>
          </a:p>
        </p:txBody>
      </p:sp>
      <p:sp>
        <p:nvSpPr>
          <p:cNvPr id="4" name="Shape 2"/>
          <p:cNvSpPr/>
          <p:nvPr/>
        </p:nvSpPr>
        <p:spPr>
          <a:xfrm>
            <a:off x="4009685" y="4980357"/>
            <a:ext cx="6510933" cy="3207187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86825" y="4980357"/>
            <a:ext cx="91440" cy="3207187"/>
          </a:xfrm>
          <a:prstGeom prst="roundRect">
            <a:avLst>
              <a:gd name="adj" fmla="val 9236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02103" y="5204195"/>
            <a:ext cx="3016329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Below-Cost Sales</a:t>
            </a:r>
            <a:endParaRPr lang="en-US" sz="2350"/>
          </a:p>
        </p:txBody>
      </p:sp>
      <p:sp>
        <p:nvSpPr>
          <p:cNvPr id="7" name="Text 5"/>
          <p:cNvSpPr/>
          <p:nvPr/>
        </p:nvSpPr>
        <p:spPr>
          <a:xfrm>
            <a:off x="4302103" y="5701757"/>
            <a:ext cx="5994678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key product lines are consistently sold below their production cost, leading to guaranteed losses:</a:t>
            </a:r>
            <a:endParaRPr lang="en-US" sz="1550"/>
          </a:p>
        </p:txBody>
      </p:sp>
      <p:sp>
        <p:nvSpPr>
          <p:cNvPr id="8" name="Text 6"/>
          <p:cNvSpPr/>
          <p:nvPr/>
        </p:nvSpPr>
        <p:spPr>
          <a:xfrm>
            <a:off x="4302103" y="6465781"/>
            <a:ext cx="599467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Printers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4302103" y="6857854"/>
            <a:ext cx="599467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Cars</a:t>
            </a:r>
            <a:endParaRPr lang="en-US" sz="1550"/>
          </a:p>
        </p:txBody>
      </p:sp>
      <p:sp>
        <p:nvSpPr>
          <p:cNvPr id="10" name="Text 8"/>
          <p:cNvSpPr/>
          <p:nvPr/>
        </p:nvSpPr>
        <p:spPr>
          <a:xfrm>
            <a:off x="4302103" y="7249927"/>
            <a:ext cx="599467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Smartphones</a:t>
            </a:r>
            <a:endParaRPr lang="en-US" sz="1550"/>
          </a:p>
        </p:txBody>
      </p:sp>
      <p:sp>
        <p:nvSpPr>
          <p:cNvPr id="11" name="Text 9"/>
          <p:cNvSpPr/>
          <p:nvPr/>
        </p:nvSpPr>
        <p:spPr>
          <a:xfrm>
            <a:off x="4302103" y="7642000"/>
            <a:ext cx="5994678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Laptops</a:t>
            </a:r>
            <a:endParaRPr lang="en-US" sz="1550"/>
          </a:p>
        </p:txBody>
      </p:sp>
      <p:sp>
        <p:nvSpPr>
          <p:cNvPr id="12" name="Shape 10"/>
          <p:cNvSpPr/>
          <p:nvPr/>
        </p:nvSpPr>
        <p:spPr>
          <a:xfrm>
            <a:off x="3997239" y="1632246"/>
            <a:ext cx="6510933" cy="3207187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74379" y="1632246"/>
            <a:ext cx="91440" cy="3207187"/>
          </a:xfrm>
          <a:prstGeom prst="roundRect">
            <a:avLst>
              <a:gd name="adj" fmla="val 9236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89656" y="1856084"/>
            <a:ext cx="3016329" cy="376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Heavy Discounting</a:t>
            </a:r>
            <a:endParaRPr lang="en-US" sz="2350"/>
          </a:p>
        </p:txBody>
      </p:sp>
      <p:sp>
        <p:nvSpPr>
          <p:cNvPr id="15" name="Text 13"/>
          <p:cNvSpPr/>
          <p:nvPr/>
        </p:nvSpPr>
        <p:spPr>
          <a:xfrm>
            <a:off x="4289656" y="2353646"/>
            <a:ext cx="5994678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average discount rate of </a:t>
            </a:r>
            <a:r>
              <a:rPr lang="en-US" sz="1550" b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16%</a:t>
            </a: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all products severely impacts gross margins, undermining efforts to achieve profitability.</a:t>
            </a:r>
            <a:endParaRPr lang="en-US" sz="15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CDF5E6-934D-EEB6-FBF2-1A2146BB9E10}"/>
              </a:ext>
            </a:extLst>
          </p:cNvPr>
          <p:cNvSpPr txBox="1"/>
          <p:nvPr/>
        </p:nvSpPr>
        <p:spPr>
          <a:xfrm>
            <a:off x="593188" y="570914"/>
            <a:ext cx="1324356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Georgia" panose="02040502050405020303" pitchFamily="18" charset="0"/>
                <a:ea typeface="Inter Bold"/>
              </a:rPr>
              <a:t>South America Financial Overview</a:t>
            </a:r>
            <a:endParaRPr lang="en-US" sz="4000" dirty="0">
              <a:latin typeface="Georgia" panose="02040502050405020303" pitchFamily="18" charset="0"/>
              <a:ea typeface="Inter Bold"/>
              <a:cs typeface="Calibri"/>
            </a:endParaRPr>
          </a:p>
          <a:p>
            <a:pPr algn="ctr"/>
            <a:endParaRPr lang="en-GB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1AA887-DC71-B985-AF22-4DE8405A6580}"/>
              </a:ext>
            </a:extLst>
          </p:cNvPr>
          <p:cNvSpPr/>
          <p:nvPr/>
        </p:nvSpPr>
        <p:spPr>
          <a:xfrm>
            <a:off x="-904381" y="205488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272525"/>
                </a:solidFill>
                <a:latin typeface="Calibri"/>
                <a:ea typeface="Inter Bold"/>
                <a:cs typeface="Inter Bold" pitchFamily="34" charset="-120"/>
              </a:rPr>
              <a:t>€25.35</a:t>
            </a:r>
            <a:r>
              <a:rPr lang="en-US" sz="5850">
                <a:solidFill>
                  <a:srgbClr val="272525"/>
                </a:solidFill>
                <a:latin typeface="Calibri"/>
                <a:ea typeface="Inter Bold"/>
                <a:cs typeface="Calibri"/>
              </a:rPr>
              <a:t>M</a:t>
            </a:r>
            <a:endParaRPr lang="en-US" sz="5850">
              <a:latin typeface="Calibri"/>
              <a:ea typeface="Inter Bold"/>
              <a:cs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8D8052D-A910-B34C-4EBA-20BC96D2EC8F}"/>
              </a:ext>
            </a:extLst>
          </p:cNvPr>
          <p:cNvSpPr/>
          <p:nvPr/>
        </p:nvSpPr>
        <p:spPr>
          <a:xfrm>
            <a:off x="850277" y="3177118"/>
            <a:ext cx="3392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 (10 years)</a:t>
            </a:r>
            <a:endParaRPr lang="en-US" sz="22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C09DBAC-76A4-7BB0-FBEB-3DC5C755A2CF}"/>
              </a:ext>
            </a:extLst>
          </p:cNvPr>
          <p:cNvSpPr/>
          <p:nvPr/>
        </p:nvSpPr>
        <p:spPr>
          <a:xfrm>
            <a:off x="8250704" y="206493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- €607.54K</a:t>
            </a:r>
            <a:endParaRPr lang="en-US" sz="5850">
              <a:latin typeface="Inter Bold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358A4A5-00FA-0CD6-4956-00462363644A}"/>
              </a:ext>
            </a:extLst>
          </p:cNvPr>
          <p:cNvSpPr/>
          <p:nvPr/>
        </p:nvSpPr>
        <p:spPr>
          <a:xfrm>
            <a:off x="10374642" y="3177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Net Loss (10 years)</a:t>
            </a:r>
            <a:endParaRPr lang="en-US" sz="2200">
              <a:latin typeface="Inter Bold"/>
              <a:ea typeface="Inter Bold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50FFD1C-A7D6-946E-B96A-637E0BBD39AF}"/>
              </a:ext>
            </a:extLst>
          </p:cNvPr>
          <p:cNvSpPr/>
          <p:nvPr/>
        </p:nvSpPr>
        <p:spPr>
          <a:xfrm>
            <a:off x="7456884" y="563701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endParaRPr lang="en-US" sz="1750">
              <a:solidFill>
                <a:srgbClr val="272525"/>
              </a:solidFill>
              <a:latin typeface="Inter"/>
              <a:ea typeface="Inter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E94B2162-CC42-CEF1-DD78-A862C9E1DEEE}"/>
              </a:ext>
            </a:extLst>
          </p:cNvPr>
          <p:cNvSpPr/>
          <p:nvPr/>
        </p:nvSpPr>
        <p:spPr>
          <a:xfrm>
            <a:off x="3175250" y="205488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272525"/>
                </a:solidFill>
                <a:latin typeface="Calibri"/>
                <a:ea typeface="Inter Bold"/>
                <a:cs typeface="Inter Bold" pitchFamily="34" charset="-120"/>
              </a:rPr>
              <a:t>€25.95</a:t>
            </a:r>
            <a:r>
              <a:rPr lang="en-US" sz="5850">
                <a:solidFill>
                  <a:srgbClr val="272525"/>
                </a:solidFill>
                <a:latin typeface="Calibri"/>
                <a:ea typeface="Inter Bold"/>
                <a:cs typeface="Calibri"/>
              </a:rPr>
              <a:t>M</a:t>
            </a:r>
            <a:endParaRPr lang="en-US" sz="5850">
              <a:latin typeface="Calibri"/>
              <a:ea typeface="Inter Bold"/>
              <a:cs typeface="Calibri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9597903D-88D4-5F82-BDB5-2FBD7AB3E455}"/>
              </a:ext>
            </a:extLst>
          </p:cNvPr>
          <p:cNvSpPr/>
          <p:nvPr/>
        </p:nvSpPr>
        <p:spPr>
          <a:xfrm>
            <a:off x="4929907" y="3177117"/>
            <a:ext cx="3392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Total Costs (10 years)</a:t>
            </a:r>
            <a:endParaRPr lang="en-US" sz="2200">
              <a:latin typeface="Inter Bold"/>
              <a:ea typeface="Inter Bold"/>
            </a:endParaRPr>
          </a:p>
        </p:txBody>
      </p:sp>
      <p:pic>
        <p:nvPicPr>
          <p:cNvPr id="15" name="Picture 14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8E0C1305-A464-C2D9-2728-B68CDB9776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43"/>
          <a:stretch>
            <a:fillRect/>
          </a:stretch>
        </p:blipFill>
        <p:spPr>
          <a:xfrm>
            <a:off x="1656827" y="3839572"/>
            <a:ext cx="11316746" cy="43206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DAE24A-9C1E-DAA1-0330-12551F223C5F}"/>
              </a:ext>
            </a:extLst>
          </p:cNvPr>
          <p:cNvSpPr txBox="1"/>
          <p:nvPr/>
        </p:nvSpPr>
        <p:spPr>
          <a:xfrm>
            <a:off x="581890" y="1849582"/>
            <a:ext cx="3740727" cy="1745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96337-9961-795A-8DF6-A765B64BBBA1}"/>
              </a:ext>
            </a:extLst>
          </p:cNvPr>
          <p:cNvSpPr txBox="1"/>
          <p:nvPr/>
        </p:nvSpPr>
        <p:spPr>
          <a:xfrm>
            <a:off x="9225557" y="1970351"/>
            <a:ext cx="4379081" cy="1573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048DC-99D3-445B-A548-6C488C05CB06}"/>
              </a:ext>
            </a:extLst>
          </p:cNvPr>
          <p:cNvSpPr txBox="1"/>
          <p:nvPr/>
        </p:nvSpPr>
        <p:spPr>
          <a:xfrm>
            <a:off x="4757074" y="1849580"/>
            <a:ext cx="3740727" cy="1745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12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website with white text&#10;&#10;AI-generated content may be incorrect.">
            <a:extLst>
              <a:ext uri="{FF2B5EF4-FFF2-40B4-BE49-F238E27FC236}">
                <a16:creationId xmlns:a16="http://schemas.microsoft.com/office/drawing/2014/main" id="{1EC64B63-902B-6B92-45D1-05CD6A774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46" y="0"/>
            <a:ext cx="10213023" cy="822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810BE9-C8FD-CBC0-9D7A-CCFE89440B25}"/>
              </a:ext>
            </a:extLst>
          </p:cNvPr>
          <p:cNvSpPr txBox="1"/>
          <p:nvPr/>
        </p:nvSpPr>
        <p:spPr>
          <a:xfrm>
            <a:off x="2475388" y="2952194"/>
            <a:ext cx="10201911" cy="274202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9C993-C625-8F07-4F1B-A3C75FBC22C7}"/>
              </a:ext>
            </a:extLst>
          </p:cNvPr>
          <p:cNvSpPr txBox="1"/>
          <p:nvPr/>
        </p:nvSpPr>
        <p:spPr>
          <a:xfrm>
            <a:off x="2475387" y="5695393"/>
            <a:ext cx="10201911" cy="25349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4" name="Picture 3" descr="A graph of blue bars&#10;&#10;AI-generated content may be incorrect.">
            <a:extLst>
              <a:ext uri="{FF2B5EF4-FFF2-40B4-BE49-F238E27FC236}">
                <a16:creationId xmlns:a16="http://schemas.microsoft.com/office/drawing/2014/main" id="{78BE46C9-1611-DDEE-305E-92EE54826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356" y="2754236"/>
            <a:ext cx="4288406" cy="2941102"/>
          </a:xfrm>
          <a:prstGeom prst="rect">
            <a:avLst/>
          </a:prstGeom>
        </p:spPr>
      </p:pic>
      <p:pic>
        <p:nvPicPr>
          <p:cNvPr id="3" name="Picture 2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B7A5710B-4D1F-1FCB-0DDF-63C745295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923" y="5695525"/>
            <a:ext cx="4265168" cy="2363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A0998-6C3F-6F44-C553-464AE12E8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6343" y="5693259"/>
            <a:ext cx="2825893" cy="25398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2E9A0E-C3EF-995F-6F9C-C85ACBA7A581}"/>
              </a:ext>
            </a:extLst>
          </p:cNvPr>
          <p:cNvSpPr txBox="1"/>
          <p:nvPr/>
        </p:nvSpPr>
        <p:spPr>
          <a:xfrm>
            <a:off x="5455013" y="2762654"/>
            <a:ext cx="1857248" cy="21544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err="1">
                <a:ea typeface="Calibri"/>
                <a:cs typeface="Calibri"/>
              </a:rPr>
              <a:t>Sales_Channel</a:t>
            </a:r>
            <a:r>
              <a:rPr lang="en-US" sz="800">
                <a:ea typeface="Calibri"/>
                <a:cs typeface="Calibri"/>
              </a:rPr>
              <a:t>       Offline           Online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C97B5C-59A4-70BD-BC49-CB3090AA6013}"/>
              </a:ext>
            </a:extLst>
          </p:cNvPr>
          <p:cNvSpPr/>
          <p:nvPr/>
        </p:nvSpPr>
        <p:spPr>
          <a:xfrm>
            <a:off x="6646370" y="2819389"/>
            <a:ext cx="100116" cy="104019"/>
          </a:xfrm>
          <a:prstGeom prst="ellipse">
            <a:avLst/>
          </a:prstGeom>
          <a:solidFill>
            <a:srgbClr val="064781"/>
          </a:solidFill>
          <a:ln>
            <a:solidFill>
              <a:srgbClr val="0647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D96CA5-391C-A38D-94B9-026241BA09AE}"/>
              </a:ext>
            </a:extLst>
          </p:cNvPr>
          <p:cNvSpPr/>
          <p:nvPr/>
        </p:nvSpPr>
        <p:spPr>
          <a:xfrm>
            <a:off x="6146037" y="2836641"/>
            <a:ext cx="100116" cy="86767"/>
          </a:xfrm>
          <a:prstGeom prst="ellipse">
            <a:avLst/>
          </a:prstGeom>
          <a:solidFill>
            <a:srgbClr val="0872D6"/>
          </a:solidFill>
          <a:ln>
            <a:solidFill>
              <a:srgbClr val="087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5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any&amp;#39;s performance&#10;&#10;AI-generated content may be incorrect.">
            <a:extLst>
              <a:ext uri="{FF2B5EF4-FFF2-40B4-BE49-F238E27FC236}">
                <a16:creationId xmlns:a16="http://schemas.microsoft.com/office/drawing/2014/main" id="{1CD106D0-F45E-F1A3-FFED-AC8DB5DBD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0"/>
            <a:ext cx="10071100" cy="82372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D703E7-E0A6-B2A1-A847-65EBBF370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840" y="5986642"/>
            <a:ext cx="4627892" cy="3302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0BF8D5-9329-BF84-6FCA-8EEED2BEF2A8}"/>
              </a:ext>
            </a:extLst>
          </p:cNvPr>
          <p:cNvSpPr txBox="1"/>
          <p:nvPr/>
        </p:nvSpPr>
        <p:spPr>
          <a:xfrm>
            <a:off x="9963573" y="2993813"/>
            <a:ext cx="2743200" cy="30777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400">
                <a:ea typeface="Calibri"/>
                <a:cs typeface="Calibri"/>
              </a:rPr>
              <a:t>Cars</a:t>
            </a:r>
            <a:endParaRPr lang="en-GB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04BC1-9BBC-F1C7-2FB1-DD260FB1CC9E}"/>
              </a:ext>
            </a:extLst>
          </p:cNvPr>
          <p:cNvSpPr txBox="1"/>
          <p:nvPr/>
        </p:nvSpPr>
        <p:spPr>
          <a:xfrm>
            <a:off x="9963572" y="5032585"/>
            <a:ext cx="2743200" cy="30777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400">
                <a:ea typeface="Calibri"/>
                <a:cs typeface="Calibri"/>
              </a:rPr>
              <a:t>Insurance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610440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1585CD-6FF1-CF0C-0FC1-3F94F0A4795E}"/>
              </a:ext>
            </a:extLst>
          </p:cNvPr>
          <p:cNvSpPr/>
          <p:nvPr/>
        </p:nvSpPr>
        <p:spPr>
          <a:xfrm>
            <a:off x="12687300" y="7720445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90242C8-57A6-9AA5-231E-A4028B0DC86C}"/>
              </a:ext>
            </a:extLst>
          </p:cNvPr>
          <p:cNvSpPr/>
          <p:nvPr/>
        </p:nvSpPr>
        <p:spPr>
          <a:xfrm>
            <a:off x="793790" y="1017508"/>
            <a:ext cx="1378577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Africa Financial Overview: Revenue vs Profit Gap</a:t>
            </a:r>
            <a:endParaRPr lang="en-US" sz="4450">
              <a:latin typeface="Inter Bold"/>
              <a:ea typeface="Inter Bold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F474762-C34A-BBCB-280A-1F8D4705FAA3}"/>
              </a:ext>
            </a:extLst>
          </p:cNvPr>
          <p:cNvSpPr/>
          <p:nvPr/>
        </p:nvSpPr>
        <p:spPr>
          <a:xfrm>
            <a:off x="793790" y="411480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272525"/>
                </a:solidFill>
                <a:latin typeface="Calibri"/>
                <a:ea typeface="Inter Bold"/>
                <a:cs typeface="Inter Bold" pitchFamily="34" charset="-120"/>
              </a:rPr>
              <a:t>€25.17</a:t>
            </a:r>
            <a:r>
              <a:rPr lang="en-US" sz="5850">
                <a:solidFill>
                  <a:srgbClr val="272525"/>
                </a:solidFill>
                <a:latin typeface="Calibri"/>
                <a:ea typeface="Inter Bold"/>
                <a:cs typeface="Calibri"/>
              </a:rPr>
              <a:t>M</a:t>
            </a:r>
            <a:endParaRPr lang="en-US" sz="5850">
              <a:latin typeface="Calibri"/>
              <a:cs typeface="Calibri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52E6F49-3CEE-850D-7775-0027EBF1D929}"/>
              </a:ext>
            </a:extLst>
          </p:cNvPr>
          <p:cNvSpPr/>
          <p:nvPr/>
        </p:nvSpPr>
        <p:spPr>
          <a:xfrm>
            <a:off x="2287191" y="5146595"/>
            <a:ext cx="33926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 (10 years)</a:t>
            </a:r>
            <a:endParaRPr lang="en-US" sz="220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61060E0C-0FE6-7920-0C7F-794780400B63}"/>
              </a:ext>
            </a:extLst>
          </p:cNvPr>
          <p:cNvSpPr/>
          <p:nvPr/>
        </p:nvSpPr>
        <p:spPr>
          <a:xfrm>
            <a:off x="7456884" y="4114800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- €3.7M</a:t>
            </a:r>
            <a:endParaRPr lang="en-US" sz="5850">
              <a:latin typeface="Inter Bold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94353E12-1E7E-7C26-2B24-A2AA384F6254}"/>
              </a:ext>
            </a:extLst>
          </p:cNvPr>
          <p:cNvSpPr/>
          <p:nvPr/>
        </p:nvSpPr>
        <p:spPr>
          <a:xfrm>
            <a:off x="9229130" y="5146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 pitchFamily="34" charset="-120"/>
              </a:rPr>
              <a:t>Net Loss (10 years)</a:t>
            </a:r>
            <a:endParaRPr lang="en-US" sz="2200">
              <a:latin typeface="Inter Bold"/>
              <a:ea typeface="Inter Bold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16A08B7-DB75-0EE7-8F72-9BAFC8992CA0}"/>
              </a:ext>
            </a:extLst>
          </p:cNvPr>
          <p:cNvSpPr/>
          <p:nvPr/>
        </p:nvSpPr>
        <p:spPr>
          <a:xfrm>
            <a:off x="7456884" y="563701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</a:rPr>
              <a:t>High accumulated loss shows alarming need for change in company's activities in African market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CC8806-D680-DF47-F6A3-073C00E953A7}"/>
              </a:ext>
            </a:extLst>
          </p:cNvPr>
          <p:cNvSpPr/>
          <p:nvPr/>
        </p:nvSpPr>
        <p:spPr>
          <a:xfrm>
            <a:off x="12696825" y="7715682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9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6B8514-0B7C-44AC-B10B-6CA831C27488}"/>
              </a:ext>
            </a:extLst>
          </p:cNvPr>
          <p:cNvSpPr/>
          <p:nvPr/>
        </p:nvSpPr>
        <p:spPr>
          <a:xfrm>
            <a:off x="12760187" y="7793332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5ADF7F2-C8E0-0C4C-8FF3-3DB05BF9D31D}"/>
              </a:ext>
            </a:extLst>
          </p:cNvPr>
          <p:cNvSpPr/>
          <p:nvPr/>
        </p:nvSpPr>
        <p:spPr>
          <a:xfrm>
            <a:off x="3244341" y="413761"/>
            <a:ext cx="8141717" cy="830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dirty="0">
                <a:solidFill>
                  <a:srgbClr val="000000"/>
                </a:solidFill>
                <a:latin typeface="Georgia" panose="02040502050405020303" pitchFamily="18" charset="0"/>
                <a:ea typeface="Inter Bold"/>
                <a:cs typeface="Inter Bold" pitchFamily="34" charset="-120"/>
              </a:rPr>
              <a:t>Africa - Product Performance</a:t>
            </a:r>
            <a:endParaRPr lang="en-US" sz="4800" dirty="0">
              <a:latin typeface="Georgia" panose="02040502050405020303" pitchFamily="18" charset="0"/>
              <a:ea typeface="Inter Bold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EBA4859-F1F5-778C-BEC9-BA9755285453}"/>
              </a:ext>
            </a:extLst>
          </p:cNvPr>
          <p:cNvSpPr/>
          <p:nvPr/>
        </p:nvSpPr>
        <p:spPr>
          <a:xfrm>
            <a:off x="1104900" y="6375350"/>
            <a:ext cx="4590564" cy="2249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+mn-lt"/>
              </a:rPr>
              <a:t>The only profitable products are Printers and Solar Panels, which have turned profitable only in recent years</a:t>
            </a:r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57B7DD4-1004-444B-73DF-AD8C38357FCD}"/>
              </a:ext>
            </a:extLst>
          </p:cNvPr>
          <p:cNvSpPr/>
          <p:nvPr/>
        </p:nvSpPr>
        <p:spPr>
          <a:xfrm>
            <a:off x="6934804" y="6293137"/>
            <a:ext cx="5519478" cy="2249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+mn-lt"/>
              </a:rPr>
              <a:t>Building materials have been consistently unprofitable over the past 7 years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6D5CF3-FB66-EBBF-B262-3B2FCE9D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7" t="7523" r="241" b="5281"/>
          <a:stretch>
            <a:fillRect/>
          </a:stretch>
        </p:blipFill>
        <p:spPr>
          <a:xfrm>
            <a:off x="846539" y="1544842"/>
            <a:ext cx="5108425" cy="4530055"/>
          </a:xfrm>
          <a:prstGeom prst="rect">
            <a:avLst/>
          </a:prstGeom>
        </p:spPr>
      </p:pic>
      <p:pic>
        <p:nvPicPr>
          <p:cNvPr id="12" name="Picture 11" descr="A graph showing a number of blue squares&#10;&#10;AI-generated content may be incorrect.">
            <a:extLst>
              <a:ext uri="{FF2B5EF4-FFF2-40B4-BE49-F238E27FC236}">
                <a16:creationId xmlns:a16="http://schemas.microsoft.com/office/drawing/2014/main" id="{895E321C-1B7C-FC0B-429E-6CB383DF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51" y="1467877"/>
            <a:ext cx="5347609" cy="468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73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84561D-2163-45A7-A58A-361F83A75C69}"/>
              </a:ext>
            </a:extLst>
          </p:cNvPr>
          <p:cNvSpPr/>
          <p:nvPr/>
        </p:nvSpPr>
        <p:spPr>
          <a:xfrm>
            <a:off x="12687300" y="7720445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BA93452-66F7-51FC-756E-A73CED34CDB7}"/>
              </a:ext>
            </a:extLst>
          </p:cNvPr>
          <p:cNvSpPr/>
          <p:nvPr/>
        </p:nvSpPr>
        <p:spPr>
          <a:xfrm>
            <a:off x="2150851" y="611618"/>
            <a:ext cx="103286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dirty="0">
                <a:solidFill>
                  <a:srgbClr val="000000"/>
                </a:solidFill>
                <a:latin typeface="Georgia" panose="02040502050405020303" pitchFamily="18" charset="0"/>
                <a:ea typeface="Inter Bold"/>
              </a:rPr>
              <a:t>Africa's main loss driver: High costs</a:t>
            </a:r>
            <a:endParaRPr lang="en-US" sz="4800" dirty="0">
              <a:latin typeface="Georgia" panose="02040502050405020303" pitchFamily="18" charset="0"/>
              <a:ea typeface="Inter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530C7-2516-AF29-4232-6F8D1332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75"/>
          <a:stretch>
            <a:fillRect/>
          </a:stretch>
        </p:blipFill>
        <p:spPr>
          <a:xfrm>
            <a:off x="615629" y="2194500"/>
            <a:ext cx="6530328" cy="27433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AAAFE76-7049-1EFB-7E8F-FDCFD825B084}"/>
              </a:ext>
            </a:extLst>
          </p:cNvPr>
          <p:cNvSpPr/>
          <p:nvPr/>
        </p:nvSpPr>
        <p:spPr>
          <a:xfrm>
            <a:off x="437737" y="5664291"/>
            <a:ext cx="670822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+mn-lt"/>
              </a:rPr>
              <a:t>A comparison of unit costs in the Technology and Transport &amp; Insurance sectors shows that Africa is the costliest region</a:t>
            </a:r>
            <a:endParaRPr lang="en-US"/>
          </a:p>
        </p:txBody>
      </p:sp>
      <p:pic>
        <p:nvPicPr>
          <p:cNvPr id="9" name="Picture 8" descr="A graph with numbers and percentages&#10;&#10;AI-generated content may be incorrect.">
            <a:extLst>
              <a:ext uri="{FF2B5EF4-FFF2-40B4-BE49-F238E27FC236}">
                <a16:creationId xmlns:a16="http://schemas.microsoft.com/office/drawing/2014/main" id="{6893F675-8C6D-10C8-5495-13915CB67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191" y="1932623"/>
            <a:ext cx="5928178" cy="3267074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3D24255F-C5D1-89D6-276C-7FE75592398E}"/>
              </a:ext>
            </a:extLst>
          </p:cNvPr>
          <p:cNvSpPr/>
          <p:nvPr/>
        </p:nvSpPr>
        <p:spPr>
          <a:xfrm>
            <a:off x="7687137" y="5664292"/>
            <a:ext cx="670822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+mn-lt"/>
              </a:rPr>
              <a:t>Sales are around the average compared to other regions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40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blue and green bars&#10;&#10;AI-generated content may be incorrect.">
            <a:extLst>
              <a:ext uri="{FF2B5EF4-FFF2-40B4-BE49-F238E27FC236}">
                <a16:creationId xmlns:a16="http://schemas.microsoft.com/office/drawing/2014/main" id="{F0D63725-1903-7F51-D20C-5D6102D3C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43" t="-855" r="1743" b="748"/>
          <a:stretch>
            <a:fillRect/>
          </a:stretch>
        </p:blipFill>
        <p:spPr>
          <a:xfrm>
            <a:off x="1184141" y="209352"/>
            <a:ext cx="12270466" cy="5937334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6122212E-4082-849E-D8D2-45F3264EE474}"/>
              </a:ext>
            </a:extLst>
          </p:cNvPr>
          <p:cNvSpPr/>
          <p:nvPr/>
        </p:nvSpPr>
        <p:spPr>
          <a:xfrm>
            <a:off x="2228484" y="6511672"/>
            <a:ext cx="101746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+mn-lt"/>
              </a:rPr>
              <a:t>Smartphones, Monitors, and Cars have high sales compared to other regions – showing strong potential if costs are managed better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19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D7F3393-4C23-EB14-8F06-0E0685B96A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8473" y="0"/>
            <a:ext cx="14648872" cy="822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E58115-8DF0-BDB6-014E-F3FA4FD891A0}"/>
              </a:ext>
            </a:extLst>
          </p:cNvPr>
          <p:cNvSpPr txBox="1"/>
          <p:nvPr/>
        </p:nvSpPr>
        <p:spPr>
          <a:xfrm>
            <a:off x="466548" y="192089"/>
            <a:ext cx="1006334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600" b="1">
                <a:latin typeface="Cambria" panose="02040503050406030204" pitchFamily="18" charset="0"/>
              </a:rPr>
              <a:t>Looking Forward</a:t>
            </a:r>
          </a:p>
        </p:txBody>
      </p:sp>
    </p:spTree>
    <p:extLst>
      <p:ext uri="{BB962C8B-B14F-4D97-AF65-F5344CB8AC3E}">
        <p14:creationId xmlns:p14="http://schemas.microsoft.com/office/powerpoint/2010/main" val="3259450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16F4-419E-F411-AE4C-C3C7EDEF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2AB2500-F169-2FCF-008D-399CFE01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-18473" y="0"/>
            <a:ext cx="14648872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C33BCB-7AD8-ADC3-0721-4C8DC87618AE}"/>
              </a:ext>
            </a:extLst>
          </p:cNvPr>
          <p:cNvSpPr txBox="1"/>
          <p:nvPr/>
        </p:nvSpPr>
        <p:spPr>
          <a:xfrm>
            <a:off x="1346200" y="1691667"/>
            <a:ext cx="919552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8000" dirty="0">
                <a:latin typeface="Georgia" panose="02040502050405020303" pitchFamily="18" charset="0"/>
              </a:rPr>
              <a:t>Our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686D28-F4FD-D6AC-6636-BBE0608F0730}"/>
              </a:ext>
            </a:extLst>
          </p:cNvPr>
          <p:cNvSpPr txBox="1"/>
          <p:nvPr/>
        </p:nvSpPr>
        <p:spPr>
          <a:xfrm>
            <a:off x="1346200" y="2537445"/>
            <a:ext cx="258572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600" dirty="0">
                <a:latin typeface="Georgia" panose="02040502050405020303" pitchFamily="18" charset="0"/>
                <a:ea typeface="Inter Bold"/>
              </a:rPr>
              <a:t>3</a:t>
            </a:r>
            <a:r>
              <a:rPr lang="en-GB" sz="8800" dirty="0">
                <a:latin typeface="Georgia" panose="02040502050405020303" pitchFamily="18" charset="0"/>
                <a:ea typeface="Inter Bold"/>
              </a:rPr>
              <a:t>.</a:t>
            </a:r>
            <a:endParaRPr lang="en-IE" sz="16600" dirty="0">
              <a:latin typeface="Georgia" panose="02040502050405020303" pitchFamily="18" charset="0"/>
              <a:ea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171043835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5635263" y="1131784"/>
            <a:ext cx="3061973" cy="1381353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19342" y="1095579"/>
            <a:ext cx="3101993" cy="562651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8165" y="1236265"/>
            <a:ext cx="248208" cy="2812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3766" y="1986123"/>
            <a:ext cx="2068797" cy="292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Industry Specialists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9111659" y="1108280"/>
            <a:ext cx="3061973" cy="138135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9095739" y="1095579"/>
            <a:ext cx="3103294" cy="581297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4561" y="1207182"/>
            <a:ext cx="248208" cy="28127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4240" y="1972301"/>
            <a:ext cx="2068797" cy="292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Global Production Hubs</a:t>
            </a:r>
            <a:endParaRPr lang="en-US" sz="20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DD12307-3723-0830-0449-819CFD71D210}"/>
              </a:ext>
            </a:extLst>
          </p:cNvPr>
          <p:cNvSpPr/>
          <p:nvPr/>
        </p:nvSpPr>
        <p:spPr>
          <a:xfrm>
            <a:off x="2152884" y="1131784"/>
            <a:ext cx="3061973" cy="1381353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488F3117-8167-AAEB-39CF-11B74E608B91}"/>
              </a:ext>
            </a:extLst>
          </p:cNvPr>
          <p:cNvSpPr/>
          <p:nvPr/>
        </p:nvSpPr>
        <p:spPr>
          <a:xfrm>
            <a:off x="2126183" y="1095579"/>
            <a:ext cx="3101993" cy="562651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Euro with solid fill">
            <a:extLst>
              <a:ext uri="{FF2B5EF4-FFF2-40B4-BE49-F238E27FC236}">
                <a16:creationId xmlns:a16="http://schemas.microsoft.com/office/drawing/2014/main" id="{F5A87A56-0926-2BB0-A9BE-B0407610AD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585786" y="1252799"/>
            <a:ext cx="248208" cy="248208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29FB6F56-0F7F-CE3D-ABA2-6D7D64BF0956}"/>
              </a:ext>
            </a:extLst>
          </p:cNvPr>
          <p:cNvSpPr/>
          <p:nvPr/>
        </p:nvSpPr>
        <p:spPr>
          <a:xfrm>
            <a:off x="2623452" y="1953655"/>
            <a:ext cx="2068797" cy="292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Cost Breakdown</a:t>
            </a:r>
            <a:endParaRPr lang="en-US" sz="200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C50B0837-2C0B-ACDE-CCD7-D6BD8494B844}"/>
              </a:ext>
            </a:extLst>
          </p:cNvPr>
          <p:cNvSpPr/>
          <p:nvPr/>
        </p:nvSpPr>
        <p:spPr>
          <a:xfrm>
            <a:off x="4017518" y="154269"/>
            <a:ext cx="6595363" cy="76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</a:rPr>
              <a:t>Outsourcing Production</a:t>
            </a:r>
            <a:endParaRPr lang="en-US" sz="4800" dirty="0">
              <a:latin typeface="Georgia" panose="02040502050405020303" pitchFamily="18" charset="0"/>
            </a:endParaRPr>
          </a:p>
        </p:txBody>
      </p:sp>
      <p:pic>
        <p:nvPicPr>
          <p:cNvPr id="32" name="Picture 31" descr="A graph of blue bars and green line&#10;&#10;AI-generated content may be incorrect.">
            <a:extLst>
              <a:ext uri="{FF2B5EF4-FFF2-40B4-BE49-F238E27FC236}">
                <a16:creationId xmlns:a16="http://schemas.microsoft.com/office/drawing/2014/main" id="{8A22B8A0-4852-1ACA-C75F-CC84E565D1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5588" y="3015794"/>
            <a:ext cx="4774362" cy="4889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07C1E45-5A2B-A62C-5D43-4089423FD6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0450" y="3015794"/>
            <a:ext cx="6595363" cy="48619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F64EC0-7476-B19B-CF49-8B39ED3F4E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" t="1237" r="851" b="1"/>
          <a:stretch>
            <a:fillRect/>
          </a:stretch>
        </p:blipFill>
        <p:spPr bwMode="auto">
          <a:xfrm>
            <a:off x="635000" y="1358900"/>
            <a:ext cx="13385800" cy="612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269A35-3004-E245-FA6D-82456EA13EDC}"/>
              </a:ext>
            </a:extLst>
          </p:cNvPr>
          <p:cNvSpPr/>
          <p:nvPr/>
        </p:nvSpPr>
        <p:spPr>
          <a:xfrm>
            <a:off x="2345437" y="313395"/>
            <a:ext cx="9939525" cy="76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Predictive Analysis: 3 Year Forecast</a:t>
            </a:r>
            <a:endParaRPr lang="en-US" sz="4800" dirty="0">
              <a:latin typeface="Georgia" panose="02040502050405020303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E6A77BD-D07D-5CA4-35E3-B39B5D94524C}"/>
              </a:ext>
            </a:extLst>
          </p:cNvPr>
          <p:cNvSpPr/>
          <p:nvPr/>
        </p:nvSpPr>
        <p:spPr>
          <a:xfrm>
            <a:off x="571500" y="1308100"/>
            <a:ext cx="13487400" cy="6172200"/>
          </a:xfrm>
          <a:prstGeom prst="roundRect">
            <a:avLst>
              <a:gd name="adj" fmla="val 2722"/>
            </a:avLst>
          </a:prstGeom>
          <a:noFill/>
          <a:ln w="7620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04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527" y="618053"/>
            <a:ext cx="7570946" cy="140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Georgia" panose="02040502050405020303" pitchFamily="18" charset="0"/>
                <a:ea typeface="Inter Bold" pitchFamily="34" charset="-122"/>
                <a:cs typeface="Inter Bold" pitchFamily="34" charset="-120"/>
              </a:rPr>
              <a:t>Green Identity in Global Expansion</a:t>
            </a:r>
            <a:endParaRPr lang="en-US" sz="4800" dirty="0">
              <a:latin typeface="Georgia" panose="020405020504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86527" y="2721094"/>
            <a:ext cx="3673078" cy="1669732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18818" y="2953385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Audits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1018818" y="3439398"/>
            <a:ext cx="3208496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Strict environmental controls across all operations</a:t>
            </a:r>
            <a:endParaRPr lang="en-US" sz="1750"/>
          </a:p>
        </p:txBody>
      </p:sp>
      <p:sp>
        <p:nvSpPr>
          <p:cNvPr id="8" name="Shape 5"/>
          <p:cNvSpPr/>
          <p:nvPr/>
        </p:nvSpPr>
        <p:spPr>
          <a:xfrm>
            <a:off x="4684276" y="2721094"/>
            <a:ext cx="3673197" cy="1669732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16567" y="2953385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Renewable Energy</a:t>
            </a:r>
            <a:endParaRPr lang="en-US" sz="2200"/>
          </a:p>
        </p:txBody>
      </p:sp>
      <p:sp>
        <p:nvSpPr>
          <p:cNvPr id="10" name="Text 7"/>
          <p:cNvSpPr/>
          <p:nvPr/>
        </p:nvSpPr>
        <p:spPr>
          <a:xfrm>
            <a:off x="4916567" y="3439398"/>
            <a:ext cx="3208615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renewable power for manufacturing</a:t>
            </a:r>
            <a:endParaRPr lang="en-US" sz="1750"/>
          </a:p>
        </p:txBody>
      </p:sp>
      <p:sp>
        <p:nvSpPr>
          <p:cNvPr id="11" name="Shape 8"/>
          <p:cNvSpPr/>
          <p:nvPr/>
        </p:nvSpPr>
        <p:spPr>
          <a:xfrm>
            <a:off x="786527" y="4615497"/>
            <a:ext cx="7570946" cy="131016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8818" y="4847788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Transparency</a:t>
            </a:r>
            <a:endParaRPr lang="en-US" sz="2200"/>
          </a:p>
        </p:txBody>
      </p:sp>
      <p:sp>
        <p:nvSpPr>
          <p:cNvPr id="13" name="Text 10"/>
          <p:cNvSpPr/>
          <p:nvPr/>
        </p:nvSpPr>
        <p:spPr>
          <a:xfrm>
            <a:off x="1018818" y="5333802"/>
            <a:ext cx="710636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emissions progress reporting</a:t>
            </a:r>
            <a:endParaRPr lang="en-US" sz="17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792CF-2C57-817F-7871-229EA5DE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C80BBED-24D7-9E6D-823F-D1984115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E937F30-61D1-F612-A752-C9F7ED8BDBB3}"/>
              </a:ext>
            </a:extLst>
          </p:cNvPr>
          <p:cNvSpPr/>
          <p:nvPr/>
        </p:nvSpPr>
        <p:spPr>
          <a:xfrm>
            <a:off x="6178590" y="1181528"/>
            <a:ext cx="7727910" cy="2136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Georgia"/>
                <a:ea typeface="Inter Bold"/>
              </a:rPr>
              <a:t>Thank You for Listening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DE420-EEA1-A911-5312-96F4A3296AE4}"/>
              </a:ext>
            </a:extLst>
          </p:cNvPr>
          <p:cNvSpPr/>
          <p:nvPr/>
        </p:nvSpPr>
        <p:spPr>
          <a:xfrm>
            <a:off x="12687300" y="7720445"/>
            <a:ext cx="1870364" cy="43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7D011024-2DAE-B744-595A-74ACCFB68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3975" y="6869682"/>
            <a:ext cx="2478118" cy="168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66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791F1461299946A138FCA88BFA62C6" ma:contentTypeVersion="8" ma:contentTypeDescription="Create a new document." ma:contentTypeScope="" ma:versionID="c6a3e452999996a1f2e6a8dd6c09fd0f">
  <xsd:schema xmlns:xsd="http://www.w3.org/2001/XMLSchema" xmlns:xs="http://www.w3.org/2001/XMLSchema" xmlns:p="http://schemas.microsoft.com/office/2006/metadata/properties" xmlns:ns3="0602fadf-9f45-4b6e-bb86-cddc26139108" targetNamespace="http://schemas.microsoft.com/office/2006/metadata/properties" ma:root="true" ma:fieldsID="597f4e22d98006a956e7808d68e0a1f1" ns3:_="">
    <xsd:import namespace="0602fadf-9f45-4b6e-bb86-cddc261391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2fadf-9f45-4b6e-bb86-cddc261391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602fadf-9f45-4b6e-bb86-cddc26139108" xsi:nil="true"/>
  </documentManagement>
</p:properties>
</file>

<file path=customXml/itemProps1.xml><?xml version="1.0" encoding="utf-8"?>
<ds:datastoreItem xmlns:ds="http://schemas.openxmlformats.org/officeDocument/2006/customXml" ds:itemID="{98F06C55-E3CC-426F-B693-C6B9CB93E0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3026B6-7C28-4346-BB08-520DAA73BE70}">
  <ds:schemaRefs>
    <ds:schemaRef ds:uri="0602fadf-9f45-4b6e-bb86-cddc261391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494CD84-E295-4C48-AB6B-D9BE3034E4F1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0602fadf-9f45-4b6e-bb86-cddc2613910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Office PowerPoint</Application>
  <PresentationFormat>Custom</PresentationFormat>
  <Paragraphs>119</Paragraphs>
  <Slides>26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Cambria</vt:lpstr>
      <vt:lpstr>Calibri</vt:lpstr>
      <vt:lpstr>Georgia</vt:lpstr>
      <vt:lpstr>Arial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alek lupa</dc:creator>
  <cp:lastModifiedBy>Niall Grainger</cp:lastModifiedBy>
  <cp:revision>1</cp:revision>
  <dcterms:created xsi:type="dcterms:W3CDTF">2025-11-10T17:12:39Z</dcterms:created>
  <dcterms:modified xsi:type="dcterms:W3CDTF">2025-11-11T17:01:32Z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0x010100BD791F1461299946A138FCA88BFA62C6</vt:lpwstr>
  </property>
</Properties>
</file>